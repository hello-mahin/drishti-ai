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strong: we are Team NexGen from SSTC Bhilai. DrishtiAI brings explainable diabetic-retinopathy screening to rural India using just a smartphone. The one thing to remember: it does not only give a result, it shows the health worker WHY. Frame it clearly as a screening and decision-support tool, not a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stakes. India has one of the world's largest diabetic populations, about a third develop retinopathy, and up to 90% of the resulting vision loss is preventable IF caught early. The catch: rural India has almost no eye specialists. Walk the bottom strip left to right — diabetes, no screening, silent progression, preventable blindness. That gap is exactly what we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product in one line: upload a fundus photo, the AI classifies the DR stage, Grad-CAM explains it visually, a plain-language PDF is generated, and the record is saved to a dashboard. The model sorts images into five standard DR stages, from No DR to Proliferative. And crucially, it is designed for ASHA and rural health workers with no eye-care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fair and specific here. Tools like IDx-DR, Remidio and Aravind's system are clinically strong — but they assume a hospital setting and specialised fundus cameras, and none pair the result with a visual explanation for a non-specialist. Our edge is not accuracy claims; it is the combination: any smartphone, Grad-CAM explainability, and a workflow an ASHA worker can actually use in a village.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chose a Google-Cloud-native stack. React and Tailwind for a quick, clean UI; FastAPI on Cloud Run for a serverless backend; EfficientNet-B3 as a lightweight image classifier; Grad-CAM for explainability; Gemini Vision to draft the report text; Firebase for auth and real-time records; Docker to package the model; jsPDF for the report. Two tiles are highlighted — the model and the explainability — because they are the heart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arrows. The ASHA worker signs in and uploads a fundus photo. It goes to the FastAPI backend on Cloud Run, which runs EfficientNet-B3 to get the DR stage, then Grad-CAM for the heatmap, then Gemini to draft the report. The result becomes a jsPDF report, is stored in Firestore, and shows up on the village dashboard. Four clean layers — user, application, AI, and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strongest technical idea, so slow down. EfficientNet-B3 predicts the DR stage — here, Severe. But a label alone is not trustworthy to a health worker. Grad-CAM produces a heatmap over the same image showing which regions drove that prediction. For each, say what it does and why it matters. End on the disclaimer: the heatmap shows influence on the model, not clinical proof — we are careful about that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worker's point of view. Five taps: sign in, capture the retina, see the stage with a confidence score, view the Grad-CAM heatmap, and download the PDF report the patient carries to a hospital. Everything is a clean card, not raw numbers. And every screening lands on a shared village dashboard, so a whole community's history is visible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days, five people, clear ownership. Sep 19 is setup; the 20th is the core AI, API and frontend; the 21st is full integration; the 22nd is testing and the deck; the 23rd we deploy to Cloud Run and submit on the GFG portal. Mahin leads AI, backend and deployment; Ansh owns the frontend; Kangana handles visualization; Priyanshi does reports and this deck; Sarah runs QA and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plane. The impact is fourfold: it reaches rural patients, it explains itself, it is low-cost on free-tier cloud, and it fits the ASHA worker. Then invite the demo directly: upload, predict, explain, report, dashboard — we will now show it live. Close on the line on the right, and keep it honest: this is screening and decision support that makes early detection reachable, not a cure or a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6126480" y="-1554480"/>
            <a:ext cx="7680960" cy="7680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47888" y="1938528"/>
            <a:ext cx="3072384" cy="3072384"/>
          </a:xfrm>
          <a:prstGeom prst="ellipse">
            <a:avLst/>
          </a:prstGeom>
          <a:solidFill>
            <a:srgbClr val="17BECB"/>
          </a:solidFill>
          <a:ln/>
          <a:effectLst>
            <a:outerShdw sx="100000" sy="100000" kx="0" ky="0" algn="bl" rotWithShape="0" blurRad="228600" dist="63500" dir="5400000">
              <a:srgbClr val="051324">
                <a:alpha val="2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048256"/>
            <a:ext cx="2852928" cy="28529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969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NEXGEN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21208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</a:t>
            </a:r>
            <a:pPr indent="0" marL="0">
              <a:buNone/>
            </a:pPr>
            <a:r>
              <a:rPr lang="en-US" sz="8800" b="1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76148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50" b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for Diabetic Retinopathy Screening in Rural India</a:t>
            </a:r>
            <a:endParaRPr lang="en-US" sz="2150" dirty="0"/>
          </a:p>
        </p:txBody>
      </p:sp>
      <p:sp>
        <p:nvSpPr>
          <p:cNvPr id="8" name="Shape 4"/>
          <p:cNvSpPr/>
          <p:nvPr/>
        </p:nvSpPr>
        <p:spPr>
          <a:xfrm>
            <a:off x="566928" y="3712464"/>
            <a:ext cx="2743200" cy="0"/>
          </a:xfrm>
          <a:prstGeom prst="line">
            <a:avLst/>
          </a:prstGeom>
          <a:noFill/>
          <a:ln w="25400">
            <a:solidFill>
              <a:srgbClr val="17BEC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385876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Smartphone-based, explainable screening that shows a health worker not just the result — but why.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5074920"/>
            <a:ext cx="3827678" cy="420624"/>
          </a:xfrm>
          <a:prstGeom prst="roundRect">
            <a:avLst>
              <a:gd name="adj" fmla="val 50000"/>
            </a:avLst>
          </a:prstGeom>
          <a:solidFill>
            <a:srgbClr val="12365F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5074920"/>
            <a:ext cx="38276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Campus on Google Cloud Hack Sprint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7486" y="5074920"/>
            <a:ext cx="1191463" cy="420624"/>
          </a:xfrm>
          <a:prstGeom prst="roundRect">
            <a:avLst>
              <a:gd name="adj" fmla="val 50000"/>
            </a:avLst>
          </a:prstGeom>
          <a:solidFill>
            <a:srgbClr val="12365F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7486" y="5074920"/>
            <a:ext cx="11914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SSTC Bhilai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70118" y="5074920"/>
            <a:ext cx="936346" cy="420624"/>
          </a:xfrm>
          <a:prstGeom prst="roundRect">
            <a:avLst>
              <a:gd name="adj" fmla="val 50000"/>
            </a:avLst>
          </a:prstGeom>
          <a:solidFill>
            <a:srgbClr val="12365F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70118" y="5074920"/>
            <a:ext cx="9363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hackathon prototype — screening &amp; decision support, not a medical diagnosis.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Goes Undetected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252603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55648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80" y="1882932"/>
            <a:ext cx="275783" cy="2757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377440"/>
            <a:ext cx="21236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77M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999232"/>
            <a:ext cx="21236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Diabetics in India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328416"/>
            <a:ext cx="2123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largest diabetic populations in the world.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403854" y="1517904"/>
            <a:ext cx="252603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3310" y="1755648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594" y="1882932"/>
            <a:ext cx="275783" cy="27578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05022" y="2377440"/>
            <a:ext cx="21236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3605022" y="2999232"/>
            <a:ext cx="21236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retinopathy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605022" y="3328416"/>
            <a:ext cx="2123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 third of diabetics develop DR over time.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259068" y="1517904"/>
            <a:ext cx="252603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8524" y="1755648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808" y="1882932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60236" y="2377440"/>
            <a:ext cx="21236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90%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6460236" y="2999232"/>
            <a:ext cx="21236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loss preventable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460236" y="3328416"/>
            <a:ext cx="2123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DR is caught early through routine screening.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9114282" y="1517904"/>
            <a:ext cx="252603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33738" y="1755648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022" y="1882932"/>
            <a:ext cx="275783" cy="27578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15450" y="2377440"/>
            <a:ext cx="21236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</a:t>
            </a:r>
            <a:endParaRPr lang="en-US" sz="4000" dirty="0"/>
          </a:p>
        </p:txBody>
      </p:sp>
      <p:sp>
        <p:nvSpPr>
          <p:cNvPr id="26" name="Text 20"/>
          <p:cNvSpPr txBox="1"/>
          <p:nvPr/>
        </p:nvSpPr>
        <p:spPr>
          <a:xfrm>
            <a:off x="9315450" y="2999232"/>
            <a:ext cx="21236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specialists / lakh (rural)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9315450" y="3328416"/>
            <a:ext cx="2123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rarely reaches villages in time.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548640" y="4261104"/>
            <a:ext cx="11091672" cy="1755648"/>
          </a:xfrm>
          <a:prstGeom prst="roundRect">
            <a:avLst>
              <a:gd name="adj" fmla="val 5208"/>
            </a:avLst>
          </a:prstGeom>
          <a:solidFill>
            <a:srgbClr val="0C2140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59536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PREVENTABLE BLINDNESS HAPPENS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59536" y="48828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992624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26464" y="486460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859536" y="5394960"/>
            <a:ext cx="248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2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sugar quietly damages retinal vessels.</a:t>
            </a:r>
            <a:endParaRPr lang="en-US" sz="1020" dirty="0"/>
          </a:p>
        </p:txBody>
      </p:sp>
      <p:sp>
        <p:nvSpPr>
          <p:cNvPr id="34" name="Shape 27"/>
          <p:cNvSpPr/>
          <p:nvPr/>
        </p:nvSpPr>
        <p:spPr>
          <a:xfrm>
            <a:off x="3209544" y="5111496"/>
            <a:ext cx="344424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3572256" y="48828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984" y="4992624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139184" y="486460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eye screening</a:t>
            </a:r>
            <a:endParaRPr lang="en-US" sz="1350" dirty="0"/>
          </a:p>
        </p:txBody>
      </p:sp>
      <p:sp>
        <p:nvSpPr>
          <p:cNvPr id="38" name="Text 30"/>
          <p:cNvSpPr txBox="1"/>
          <p:nvPr/>
        </p:nvSpPr>
        <p:spPr>
          <a:xfrm>
            <a:off x="3572256" y="5394960"/>
            <a:ext cx="248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2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specialist within reach; eyes go unchecked.</a:t>
            </a:r>
            <a:endParaRPr lang="en-US" sz="1020" dirty="0"/>
          </a:p>
        </p:txBody>
      </p:sp>
      <p:sp>
        <p:nvSpPr>
          <p:cNvPr id="39" name="Shape 31"/>
          <p:cNvSpPr/>
          <p:nvPr/>
        </p:nvSpPr>
        <p:spPr>
          <a:xfrm>
            <a:off x="5922264" y="5111496"/>
            <a:ext cx="344424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40" name="Shape 32"/>
          <p:cNvSpPr/>
          <p:nvPr/>
        </p:nvSpPr>
        <p:spPr>
          <a:xfrm>
            <a:off x="6284976" y="48828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4704" y="4992624"/>
            <a:ext cx="237744" cy="237744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851904" y="486460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progresses</a:t>
            </a:r>
            <a:endParaRPr lang="en-US" sz="1350" dirty="0"/>
          </a:p>
        </p:txBody>
      </p:sp>
      <p:sp>
        <p:nvSpPr>
          <p:cNvPr id="43" name="Text 34"/>
          <p:cNvSpPr txBox="1"/>
          <p:nvPr/>
        </p:nvSpPr>
        <p:spPr>
          <a:xfrm>
            <a:off x="6284976" y="5394960"/>
            <a:ext cx="248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2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advances silently, without symptoms.</a:t>
            </a:r>
            <a:endParaRPr lang="en-US" sz="1020" dirty="0"/>
          </a:p>
        </p:txBody>
      </p:sp>
      <p:sp>
        <p:nvSpPr>
          <p:cNvPr id="44" name="Shape 35"/>
          <p:cNvSpPr/>
          <p:nvPr/>
        </p:nvSpPr>
        <p:spPr>
          <a:xfrm>
            <a:off x="8634984" y="5111496"/>
            <a:ext cx="344424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8997696" y="48828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455C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24" y="4992624"/>
            <a:ext cx="237744" cy="237744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564624" y="486460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loss</a:t>
            </a:r>
            <a:endParaRPr lang="en-US" sz="1350" dirty="0"/>
          </a:p>
        </p:txBody>
      </p:sp>
      <p:sp>
        <p:nvSpPr>
          <p:cNvPr id="48" name="Text 38"/>
          <p:cNvSpPr txBox="1"/>
          <p:nvPr/>
        </p:nvSpPr>
        <p:spPr>
          <a:xfrm>
            <a:off x="8997696" y="5394960"/>
            <a:ext cx="248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2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irreversible — yet it was preventable.</a:t>
            </a:r>
            <a:endParaRPr lang="en-US" sz="1020" dirty="0"/>
          </a:p>
        </p:txBody>
      </p:sp>
      <p:sp>
        <p:nvSpPr>
          <p:cNvPr id="49" name="Text 39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DrishtiAI  ·  Explainable DR Screening</a:t>
            </a:r>
            <a:endParaRPr lang="en-US" sz="950" dirty="0"/>
          </a:p>
        </p:txBody>
      </p:sp>
      <p:sp>
        <p:nvSpPr>
          <p:cNvPr id="50" name="Text 40"/>
          <p:cNvSpPr txBox="1"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Retinal Image to Explainable Screening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5257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944014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" y="179222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23898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468880"/>
            <a:ext cx="14868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fundus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98064"/>
            <a:ext cx="14868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Retinal photo from a phone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2446934" y="2423160"/>
            <a:ext cx="365760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58414" y="1554480"/>
            <a:ext cx="185257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253789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077870" y="179222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923898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041294" y="2468880"/>
            <a:ext cx="14868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3041294" y="2798064"/>
            <a:ext cx="14868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stage predicted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4756709" y="2423160"/>
            <a:ext cx="365760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168189" y="1554480"/>
            <a:ext cx="185257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63563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387645" y="179222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318" y="1923898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351069" y="2468880"/>
            <a:ext cx="14868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5351069" y="2798064"/>
            <a:ext cx="14868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attention</a:t>
            </a:r>
            <a:endParaRPr lang="en-US" sz="1030" dirty="0"/>
          </a:p>
        </p:txBody>
      </p:sp>
      <p:sp>
        <p:nvSpPr>
          <p:cNvPr id="24" name="Shape 19"/>
          <p:cNvSpPr/>
          <p:nvPr/>
        </p:nvSpPr>
        <p:spPr>
          <a:xfrm>
            <a:off x="7066483" y="2423160"/>
            <a:ext cx="365760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477963" y="1554480"/>
            <a:ext cx="185257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8873338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697419" y="179222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93" y="1923898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660843" y="2468880"/>
            <a:ext cx="14868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report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7660843" y="2798064"/>
            <a:ext cx="14868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PDF</a:t>
            </a:r>
            <a:endParaRPr lang="en-US" sz="1030" dirty="0"/>
          </a:p>
        </p:txBody>
      </p:sp>
      <p:sp>
        <p:nvSpPr>
          <p:cNvPr id="31" name="Shape 25"/>
          <p:cNvSpPr/>
          <p:nvPr/>
        </p:nvSpPr>
        <p:spPr>
          <a:xfrm>
            <a:off x="9376258" y="2423160"/>
            <a:ext cx="365760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9787738" y="1554480"/>
            <a:ext cx="185257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33" name="Text 27"/>
          <p:cNvSpPr txBox="1"/>
          <p:nvPr/>
        </p:nvSpPr>
        <p:spPr>
          <a:xfrm>
            <a:off x="11183112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10007194" y="179222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8867" y="1923898"/>
            <a:ext cx="285293" cy="285293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970618" y="2468880"/>
            <a:ext cx="14868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record</a:t>
            </a:r>
            <a:endParaRPr lang="en-US" sz="1350" dirty="0"/>
          </a:p>
        </p:txBody>
      </p:sp>
      <p:sp>
        <p:nvSpPr>
          <p:cNvPr id="37" name="Text 30"/>
          <p:cNvSpPr txBox="1"/>
          <p:nvPr/>
        </p:nvSpPr>
        <p:spPr>
          <a:xfrm>
            <a:off x="9970618" y="2798064"/>
            <a:ext cx="14868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dashboard</a:t>
            </a:r>
            <a:endParaRPr lang="en-US" sz="1030" dirty="0"/>
          </a:p>
        </p:txBody>
      </p:sp>
      <p:sp>
        <p:nvSpPr>
          <p:cNvPr id="38" name="Shape 31"/>
          <p:cNvSpPr/>
          <p:nvPr/>
        </p:nvSpPr>
        <p:spPr>
          <a:xfrm>
            <a:off x="548640" y="3657600"/>
            <a:ext cx="6903720" cy="2304288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39" name="Text 32"/>
          <p:cNvSpPr txBox="1"/>
          <p:nvPr/>
        </p:nvSpPr>
        <p:spPr>
          <a:xfrm>
            <a:off x="822960" y="387705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DR stages the model classifies</a:t>
            </a:r>
            <a:endParaRPr lang="en-US" sz="1500" dirty="0"/>
          </a:p>
        </p:txBody>
      </p:sp>
      <p:sp>
        <p:nvSpPr>
          <p:cNvPr id="40" name="Shape 33"/>
          <p:cNvSpPr/>
          <p:nvPr/>
        </p:nvSpPr>
        <p:spPr>
          <a:xfrm>
            <a:off x="850392" y="4443984"/>
            <a:ext cx="1216152" cy="493776"/>
          </a:xfrm>
          <a:prstGeom prst="roundRect">
            <a:avLst>
              <a:gd name="adj" fmla="val 11111"/>
            </a:avLst>
          </a:prstGeom>
          <a:solidFill>
            <a:srgbClr val="1FB6A6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822960" y="4517136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</a:t>
            </a:r>
            <a:endParaRPr lang="en-US" sz="1080" dirty="0"/>
          </a:p>
        </p:txBody>
      </p:sp>
      <p:sp>
        <p:nvSpPr>
          <p:cNvPr id="42" name="Shape 35"/>
          <p:cNvSpPr/>
          <p:nvPr/>
        </p:nvSpPr>
        <p:spPr>
          <a:xfrm>
            <a:off x="2121408" y="4443984"/>
            <a:ext cx="1216152" cy="493776"/>
          </a:xfrm>
          <a:prstGeom prst="roundRect">
            <a:avLst>
              <a:gd name="adj" fmla="val 11111"/>
            </a:avLst>
          </a:prstGeom>
          <a:solidFill>
            <a:srgbClr val="7FC46B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2093976" y="4517136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080" dirty="0"/>
          </a:p>
        </p:txBody>
      </p:sp>
      <p:sp>
        <p:nvSpPr>
          <p:cNvPr id="44" name="Shape 37"/>
          <p:cNvSpPr/>
          <p:nvPr/>
        </p:nvSpPr>
        <p:spPr>
          <a:xfrm>
            <a:off x="3392424" y="4443984"/>
            <a:ext cx="1216152" cy="493776"/>
          </a:xfrm>
          <a:prstGeom prst="roundRect">
            <a:avLst>
              <a:gd name="adj" fmla="val 11111"/>
            </a:avLst>
          </a:prstGeom>
          <a:solidFill>
            <a:srgbClr val="E7A13A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3364992" y="4517136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80" dirty="0"/>
          </a:p>
        </p:txBody>
      </p:sp>
      <p:sp>
        <p:nvSpPr>
          <p:cNvPr id="46" name="Shape 39"/>
          <p:cNvSpPr/>
          <p:nvPr/>
        </p:nvSpPr>
        <p:spPr>
          <a:xfrm>
            <a:off x="4663440" y="4443984"/>
            <a:ext cx="1216152" cy="493776"/>
          </a:xfrm>
          <a:prstGeom prst="roundRect">
            <a:avLst>
              <a:gd name="adj" fmla="val 11111"/>
            </a:avLst>
          </a:prstGeom>
          <a:solidFill>
            <a:srgbClr val="E07A3A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4636008" y="4517136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080" dirty="0"/>
          </a:p>
        </p:txBody>
      </p:sp>
      <p:sp>
        <p:nvSpPr>
          <p:cNvPr id="48" name="Shape 41"/>
          <p:cNvSpPr/>
          <p:nvPr/>
        </p:nvSpPr>
        <p:spPr>
          <a:xfrm>
            <a:off x="5934456" y="4443984"/>
            <a:ext cx="1216152" cy="493776"/>
          </a:xfrm>
          <a:prstGeom prst="roundRect">
            <a:avLst>
              <a:gd name="adj" fmla="val 11111"/>
            </a:avLst>
          </a:prstGeom>
          <a:solidFill>
            <a:srgbClr val="E8455C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5907024" y="4517136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</a:t>
            </a:r>
            <a:endParaRPr lang="en-US" sz="1080" dirty="0"/>
          </a:p>
        </p:txBody>
      </p:sp>
      <p:sp>
        <p:nvSpPr>
          <p:cNvPr id="50" name="Shape 43"/>
          <p:cNvSpPr/>
          <p:nvPr/>
        </p:nvSpPr>
        <p:spPr>
          <a:xfrm>
            <a:off x="822960" y="5157216"/>
            <a:ext cx="6355080" cy="0"/>
          </a:xfrm>
          <a:prstGeom prst="line">
            <a:avLst/>
          </a:prstGeom>
          <a:noFill/>
          <a:ln w="19050">
            <a:solidFill>
              <a:srgbClr val="6E7E8E"/>
            </a:solidFill>
            <a:prstDash val="solid"/>
            <a:headEnd type="none"/>
            <a:tailEnd type="triangle"/>
          </a:ln>
        </p:spPr>
      </p:sp>
      <p:sp>
        <p:nvSpPr>
          <p:cNvPr id="51" name="Text 44"/>
          <p:cNvSpPr txBox="1"/>
          <p:nvPr/>
        </p:nvSpPr>
        <p:spPr>
          <a:xfrm>
            <a:off x="822960" y="5266944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severity  →  earlier referral matters more</a:t>
            </a:r>
            <a:endParaRPr lang="en-US" sz="1050" dirty="0"/>
          </a:p>
        </p:txBody>
      </p:sp>
      <p:sp>
        <p:nvSpPr>
          <p:cNvPr id="52" name="Text 45"/>
          <p:cNvSpPr txBox="1"/>
          <p:nvPr/>
        </p:nvSpPr>
        <p:spPr>
          <a:xfrm>
            <a:off x="822960" y="5541264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screening classification and referral cue — never a standalone diagnosis.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7772400" y="3657600"/>
            <a:ext cx="3867912" cy="2304288"/>
          </a:xfrm>
          <a:prstGeom prst="roundRect">
            <a:avLst>
              <a:gd name="adj" fmla="val 3968"/>
            </a:avLst>
          </a:prstGeom>
          <a:solidFill>
            <a:srgbClr val="0C2140"/>
          </a:solidFill>
          <a:ln/>
        </p:spPr>
      </p:sp>
      <p:sp>
        <p:nvSpPr>
          <p:cNvPr id="54" name="Shape 47"/>
          <p:cNvSpPr/>
          <p:nvPr/>
        </p:nvSpPr>
        <p:spPr>
          <a:xfrm>
            <a:off x="8046720" y="3913632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7172" y="4054084"/>
            <a:ext cx="304312" cy="304312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8778240" y="39684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it for?</a:t>
            </a:r>
            <a:endParaRPr lang="en-US" sz="1700" dirty="0"/>
          </a:p>
        </p:txBody>
      </p:sp>
      <p:sp>
        <p:nvSpPr>
          <p:cNvPr id="57" name="Text 49"/>
          <p:cNvSpPr txBox="1"/>
          <p:nvPr/>
        </p:nvSpPr>
        <p:spPr>
          <a:xfrm>
            <a:off x="8046720" y="4626864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&amp; rural health workers</a:t>
            </a:r>
            <a:endParaRPr lang="en-US" sz="1450" dirty="0"/>
          </a:p>
        </p:txBody>
      </p:sp>
      <p:sp>
        <p:nvSpPr>
          <p:cNvPr id="58" name="Text 50"/>
          <p:cNvSpPr txBox="1"/>
          <p:nvPr/>
        </p:nvSpPr>
        <p:spPr>
          <a:xfrm>
            <a:off x="8046720" y="4974336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workers with no ophthalmology training capture a photo and get a clear, visual result they can act on — bringing retinal screening closer to the village.</a:t>
            </a:r>
            <a:endParaRPr lang="en-US" sz="1200" dirty="0"/>
          </a:p>
        </p:txBody>
      </p:sp>
      <p:sp>
        <p:nvSpPr>
          <p:cNvPr id="59" name="Text 51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DrishtiAI  ·  Explainable DR Screening</a:t>
            </a:r>
            <a:endParaRPr lang="en-US" sz="950" dirty="0"/>
          </a:p>
        </p:txBody>
      </p:sp>
      <p:sp>
        <p:nvSpPr>
          <p:cNvPr id="60" name="Text 52"/>
          <p:cNvSpPr txBox="1"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DrishtiAI?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0" y="1463040"/>
            <a:ext cx="1331366" cy="658368"/>
          </a:xfrm>
          <a:prstGeom prst="roundRect">
            <a:avLst>
              <a:gd name="adj" fmla="val 11111"/>
            </a:avLst>
          </a:prstGeom>
          <a:solidFill>
            <a:srgbClr val="0C21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26280" y="1554480"/>
            <a:ext cx="1422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DrishtiAI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26280" y="1828800"/>
            <a:ext cx="1422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94806" y="1463040"/>
            <a:ext cx="1331366" cy="658368"/>
          </a:xfrm>
          <a:prstGeom prst="roundRect">
            <a:avLst>
              <a:gd name="adj" fmla="val 11111"/>
            </a:avLst>
          </a:prstGeom>
          <a:solidFill>
            <a:srgbClr val="E9EF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9086" y="1554480"/>
            <a:ext cx="1422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DR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9086" y="1828800"/>
            <a:ext cx="1422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17613" y="1463040"/>
            <a:ext cx="1331366" cy="658368"/>
          </a:xfrm>
          <a:prstGeom prst="roundRect">
            <a:avLst>
              <a:gd name="adj" fmla="val 11111"/>
            </a:avLst>
          </a:prstGeom>
          <a:solidFill>
            <a:srgbClr val="E9EF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71893" y="1554480"/>
            <a:ext cx="1422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IDx-DR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71893" y="1828800"/>
            <a:ext cx="1422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USA, clinical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840419" y="1463040"/>
            <a:ext cx="1331366" cy="658368"/>
          </a:xfrm>
          <a:prstGeom prst="roundRect">
            <a:avLst>
              <a:gd name="adj" fmla="val 11111"/>
            </a:avLst>
          </a:prstGeom>
          <a:solidFill>
            <a:srgbClr val="E9E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94699" y="1554480"/>
            <a:ext cx="1422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Remidio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794699" y="1828800"/>
            <a:ext cx="1422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Device-based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263226" y="1463040"/>
            <a:ext cx="1331366" cy="658368"/>
          </a:xfrm>
          <a:prstGeom prst="roundRect">
            <a:avLst>
              <a:gd name="adj" fmla="val 11111"/>
            </a:avLst>
          </a:prstGeom>
          <a:solidFill>
            <a:srgbClr val="E9EF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17506" y="1554480"/>
            <a:ext cx="1422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Aravind AI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217506" y="1828800"/>
            <a:ext cx="1422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In-hospital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2128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22128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smartphone camera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2212848"/>
            <a:ext cx="1331366" cy="548640"/>
          </a:xfrm>
          <a:prstGeom prst="roundRect">
            <a:avLst>
              <a:gd name="adj" fmla="val 10000"/>
            </a:avLst>
          </a:prstGeom>
          <a:solidFill>
            <a:srgbClr val="F0FB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063947" y="23134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7340" y="2396825"/>
            <a:ext cx="180685" cy="180685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486754" y="23134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147" y="2396825"/>
            <a:ext cx="180685" cy="180685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909560" y="23134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953" y="2396825"/>
            <a:ext cx="180685" cy="180685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9332366" y="23134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5760" y="2396825"/>
            <a:ext cx="180685" cy="18068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0755173" y="23134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8566" y="2396825"/>
            <a:ext cx="180685" cy="18068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49808" y="27614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specialised fundus hardware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4572000" y="2761488"/>
            <a:ext cx="1331366" cy="548640"/>
          </a:xfrm>
          <a:prstGeom prst="roundRect">
            <a:avLst>
              <a:gd name="adj" fmla="val 10000"/>
            </a:avLst>
          </a:prstGeom>
          <a:solidFill>
            <a:srgbClr val="F0FBFC"/>
          </a:solidFill>
          <a:ln/>
        </p:spPr>
      </p:sp>
      <p:sp>
        <p:nvSpPr>
          <p:cNvPr id="34" name="Shape 27"/>
          <p:cNvSpPr/>
          <p:nvPr/>
        </p:nvSpPr>
        <p:spPr>
          <a:xfrm>
            <a:off x="5063947" y="28620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340" y="2945465"/>
            <a:ext cx="180685" cy="180685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486754" y="28620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0147" y="2945465"/>
            <a:ext cx="180685" cy="180685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7909560" y="28620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2953" y="2945465"/>
            <a:ext cx="180685" cy="180685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9332366" y="28620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5760" y="2945465"/>
            <a:ext cx="180685" cy="180685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10755173" y="28620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38566" y="2945465"/>
            <a:ext cx="180685" cy="180685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548640" y="33101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5" name="Text 33"/>
          <p:cNvSpPr txBox="1"/>
          <p:nvPr/>
        </p:nvSpPr>
        <p:spPr>
          <a:xfrm>
            <a:off x="749808" y="33101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visual explainability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4572000" y="3310128"/>
            <a:ext cx="1331366" cy="548640"/>
          </a:xfrm>
          <a:prstGeom prst="roundRect">
            <a:avLst>
              <a:gd name="adj" fmla="val 10000"/>
            </a:avLst>
          </a:prstGeom>
          <a:solidFill>
            <a:srgbClr val="F0FBFC"/>
          </a:solidFill>
          <a:ln/>
        </p:spPr>
      </p:sp>
      <p:sp>
        <p:nvSpPr>
          <p:cNvPr id="47" name="Shape 35"/>
          <p:cNvSpPr/>
          <p:nvPr/>
        </p:nvSpPr>
        <p:spPr>
          <a:xfrm>
            <a:off x="5063947" y="34107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7340" y="3494105"/>
            <a:ext cx="180685" cy="180685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6486754" y="34107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0147" y="3494105"/>
            <a:ext cx="180685" cy="180685"/>
          </a:xfrm>
          <a:prstGeom prst="rect">
            <a:avLst/>
          </a:prstGeom>
        </p:spPr>
      </p:pic>
      <p:sp>
        <p:nvSpPr>
          <p:cNvPr id="51" name="Shape 37"/>
          <p:cNvSpPr/>
          <p:nvPr/>
        </p:nvSpPr>
        <p:spPr>
          <a:xfrm>
            <a:off x="7909560" y="34107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2953" y="3494105"/>
            <a:ext cx="180685" cy="180685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9332366" y="34107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5760" y="3494105"/>
            <a:ext cx="180685" cy="180685"/>
          </a:xfrm>
          <a:prstGeom prst="rect">
            <a:avLst/>
          </a:prstGeom>
        </p:spPr>
      </p:pic>
      <p:sp>
        <p:nvSpPr>
          <p:cNvPr id="55" name="Shape 39"/>
          <p:cNvSpPr/>
          <p:nvPr/>
        </p:nvSpPr>
        <p:spPr>
          <a:xfrm>
            <a:off x="10755173" y="341071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38566" y="3494105"/>
            <a:ext cx="180685" cy="180685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749808" y="385876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ASHA field workflow</a:t>
            </a:r>
            <a:endParaRPr lang="en-US" sz="1200" dirty="0"/>
          </a:p>
        </p:txBody>
      </p:sp>
      <p:sp>
        <p:nvSpPr>
          <p:cNvPr id="58" name="Shape 41"/>
          <p:cNvSpPr/>
          <p:nvPr/>
        </p:nvSpPr>
        <p:spPr>
          <a:xfrm>
            <a:off x="4572000" y="3858768"/>
            <a:ext cx="1331366" cy="548640"/>
          </a:xfrm>
          <a:prstGeom prst="roundRect">
            <a:avLst>
              <a:gd name="adj" fmla="val 10000"/>
            </a:avLst>
          </a:prstGeom>
          <a:solidFill>
            <a:srgbClr val="F0FBFC"/>
          </a:solidFill>
          <a:ln/>
        </p:spPr>
      </p:sp>
      <p:sp>
        <p:nvSpPr>
          <p:cNvPr id="59" name="Shape 42"/>
          <p:cNvSpPr/>
          <p:nvPr/>
        </p:nvSpPr>
        <p:spPr>
          <a:xfrm>
            <a:off x="5063947" y="39593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/>
        </p:spPr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7340" y="4042745"/>
            <a:ext cx="180685" cy="180685"/>
          </a:xfrm>
          <a:prstGeom prst="rect">
            <a:avLst/>
          </a:prstGeom>
        </p:spPr>
      </p:pic>
      <p:sp>
        <p:nvSpPr>
          <p:cNvPr id="61" name="Shape 43"/>
          <p:cNvSpPr/>
          <p:nvPr/>
        </p:nvSpPr>
        <p:spPr>
          <a:xfrm>
            <a:off x="6486754" y="39593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0147" y="4042745"/>
            <a:ext cx="180685" cy="18068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7909560" y="39593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6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92953" y="4042745"/>
            <a:ext cx="180685" cy="180685"/>
          </a:xfrm>
          <a:prstGeom prst="rect">
            <a:avLst/>
          </a:prstGeom>
        </p:spPr>
      </p:pic>
      <p:sp>
        <p:nvSpPr>
          <p:cNvPr id="65" name="Shape 45"/>
          <p:cNvSpPr/>
          <p:nvPr/>
        </p:nvSpPr>
        <p:spPr>
          <a:xfrm>
            <a:off x="9332366" y="39593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6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15760" y="4042745"/>
            <a:ext cx="180685" cy="180685"/>
          </a:xfrm>
          <a:prstGeom prst="rect">
            <a:avLst/>
          </a:prstGeom>
        </p:spPr>
      </p:pic>
      <p:sp>
        <p:nvSpPr>
          <p:cNvPr id="67" name="Shape 46"/>
          <p:cNvSpPr/>
          <p:nvPr/>
        </p:nvSpPr>
        <p:spPr>
          <a:xfrm>
            <a:off x="10755173" y="39593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6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38566" y="4042745"/>
            <a:ext cx="180685" cy="180685"/>
          </a:xfrm>
          <a:prstGeom prst="rect">
            <a:avLst/>
          </a:prstGeom>
        </p:spPr>
      </p:pic>
      <p:sp>
        <p:nvSpPr>
          <p:cNvPr id="69" name="Shape 47"/>
          <p:cNvSpPr/>
          <p:nvPr/>
        </p:nvSpPr>
        <p:spPr>
          <a:xfrm>
            <a:off x="548640" y="44074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0" name="Text 48"/>
          <p:cNvSpPr txBox="1"/>
          <p:nvPr/>
        </p:nvSpPr>
        <p:spPr>
          <a:xfrm>
            <a:off x="749808" y="44074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low-cost to run</a:t>
            </a:r>
            <a:endParaRPr lang="en-US" sz="1200" dirty="0"/>
          </a:p>
        </p:txBody>
      </p:sp>
      <p:sp>
        <p:nvSpPr>
          <p:cNvPr id="71" name="Shape 49"/>
          <p:cNvSpPr/>
          <p:nvPr/>
        </p:nvSpPr>
        <p:spPr>
          <a:xfrm>
            <a:off x="4572000" y="4407408"/>
            <a:ext cx="1331366" cy="548640"/>
          </a:xfrm>
          <a:prstGeom prst="roundRect">
            <a:avLst>
              <a:gd name="adj" fmla="val 10000"/>
            </a:avLst>
          </a:prstGeom>
          <a:solidFill>
            <a:srgbClr val="F0FBFC"/>
          </a:solidFill>
          <a:ln/>
        </p:spPr>
      </p:sp>
      <p:sp>
        <p:nvSpPr>
          <p:cNvPr id="72" name="Shape 50"/>
          <p:cNvSpPr/>
          <p:nvPr/>
        </p:nvSpPr>
        <p:spPr>
          <a:xfrm>
            <a:off x="5063947" y="4507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/>
        </p:spPr>
      </p:sp>
      <p:pic>
        <p:nvPicPr>
          <p:cNvPr id="7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47340" y="4591385"/>
            <a:ext cx="180685" cy="180685"/>
          </a:xfrm>
          <a:prstGeom prst="rect">
            <a:avLst/>
          </a:prstGeom>
        </p:spPr>
      </p:pic>
      <p:sp>
        <p:nvSpPr>
          <p:cNvPr id="74" name="Shape 51"/>
          <p:cNvSpPr/>
          <p:nvPr/>
        </p:nvSpPr>
        <p:spPr>
          <a:xfrm>
            <a:off x="6486754" y="4507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7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70147" y="4591385"/>
            <a:ext cx="180685" cy="180685"/>
          </a:xfrm>
          <a:prstGeom prst="rect">
            <a:avLst/>
          </a:prstGeom>
        </p:spPr>
      </p:pic>
      <p:sp>
        <p:nvSpPr>
          <p:cNvPr id="76" name="Shape 52"/>
          <p:cNvSpPr/>
          <p:nvPr/>
        </p:nvSpPr>
        <p:spPr>
          <a:xfrm>
            <a:off x="7909560" y="4507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7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92953" y="4591385"/>
            <a:ext cx="180685" cy="180685"/>
          </a:xfrm>
          <a:prstGeom prst="rect">
            <a:avLst/>
          </a:prstGeom>
        </p:spPr>
      </p:pic>
      <p:sp>
        <p:nvSpPr>
          <p:cNvPr id="78" name="Shape 53"/>
          <p:cNvSpPr/>
          <p:nvPr/>
        </p:nvSpPr>
        <p:spPr>
          <a:xfrm>
            <a:off x="9332366" y="4507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7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15760" y="4591385"/>
            <a:ext cx="180685" cy="180685"/>
          </a:xfrm>
          <a:prstGeom prst="rect">
            <a:avLst/>
          </a:prstGeom>
        </p:spPr>
      </p:pic>
      <p:sp>
        <p:nvSpPr>
          <p:cNvPr id="80" name="Shape 54"/>
          <p:cNvSpPr/>
          <p:nvPr/>
        </p:nvSpPr>
        <p:spPr>
          <a:xfrm>
            <a:off x="10755173" y="4507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8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838566" y="4591385"/>
            <a:ext cx="180685" cy="180685"/>
          </a:xfrm>
          <a:prstGeom prst="rect">
            <a:avLst/>
          </a:prstGeom>
        </p:spPr>
      </p:pic>
      <p:sp>
        <p:nvSpPr>
          <p:cNvPr id="82" name="Text 55"/>
          <p:cNvSpPr txBox="1"/>
          <p:nvPr/>
        </p:nvSpPr>
        <p:spPr>
          <a:xfrm>
            <a:off x="749808" y="49560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PDF report &amp; history</a:t>
            </a:r>
            <a:endParaRPr lang="en-US" sz="1200" dirty="0"/>
          </a:p>
        </p:txBody>
      </p:sp>
      <p:sp>
        <p:nvSpPr>
          <p:cNvPr id="83" name="Shape 56"/>
          <p:cNvSpPr/>
          <p:nvPr/>
        </p:nvSpPr>
        <p:spPr>
          <a:xfrm>
            <a:off x="4572000" y="4956048"/>
            <a:ext cx="1331366" cy="548640"/>
          </a:xfrm>
          <a:prstGeom prst="roundRect">
            <a:avLst>
              <a:gd name="adj" fmla="val 10000"/>
            </a:avLst>
          </a:prstGeom>
          <a:solidFill>
            <a:srgbClr val="F0FBFC"/>
          </a:solidFill>
          <a:ln/>
        </p:spPr>
      </p:sp>
      <p:sp>
        <p:nvSpPr>
          <p:cNvPr id="84" name="Shape 57"/>
          <p:cNvSpPr/>
          <p:nvPr/>
        </p:nvSpPr>
        <p:spPr>
          <a:xfrm>
            <a:off x="5063947" y="50566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/>
        </p:spPr>
      </p:sp>
      <p:pic>
        <p:nvPicPr>
          <p:cNvPr id="8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47340" y="5140025"/>
            <a:ext cx="180685" cy="180685"/>
          </a:xfrm>
          <a:prstGeom prst="rect">
            <a:avLst/>
          </a:prstGeom>
        </p:spPr>
      </p:pic>
      <p:sp>
        <p:nvSpPr>
          <p:cNvPr id="86" name="Shape 58"/>
          <p:cNvSpPr/>
          <p:nvPr/>
        </p:nvSpPr>
        <p:spPr>
          <a:xfrm>
            <a:off x="6486754" y="50566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87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70147" y="5140025"/>
            <a:ext cx="180685" cy="180685"/>
          </a:xfrm>
          <a:prstGeom prst="rect">
            <a:avLst/>
          </a:prstGeom>
        </p:spPr>
      </p:pic>
      <p:sp>
        <p:nvSpPr>
          <p:cNvPr id="88" name="Shape 59"/>
          <p:cNvSpPr/>
          <p:nvPr/>
        </p:nvSpPr>
        <p:spPr>
          <a:xfrm>
            <a:off x="7909560" y="50566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8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92953" y="5140025"/>
            <a:ext cx="180685" cy="180685"/>
          </a:xfrm>
          <a:prstGeom prst="rect">
            <a:avLst/>
          </a:prstGeom>
        </p:spPr>
      </p:pic>
      <p:sp>
        <p:nvSpPr>
          <p:cNvPr id="90" name="Shape 60"/>
          <p:cNvSpPr/>
          <p:nvPr/>
        </p:nvSpPr>
        <p:spPr>
          <a:xfrm>
            <a:off x="9332366" y="50566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9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15760" y="5140025"/>
            <a:ext cx="180685" cy="180685"/>
          </a:xfrm>
          <a:prstGeom prst="rect">
            <a:avLst/>
          </a:prstGeom>
        </p:spPr>
      </p:pic>
      <p:sp>
        <p:nvSpPr>
          <p:cNvPr id="92" name="Shape 61"/>
          <p:cNvSpPr/>
          <p:nvPr/>
        </p:nvSpPr>
        <p:spPr>
          <a:xfrm>
            <a:off x="10755173" y="50566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AEFF4"/>
          </a:solidFill>
          <a:ln/>
        </p:spPr>
      </p:sp>
      <p:pic>
        <p:nvPicPr>
          <p:cNvPr id="9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838566" y="5140025"/>
            <a:ext cx="180685" cy="180685"/>
          </a:xfrm>
          <a:prstGeom prst="rect">
            <a:avLst/>
          </a:prstGeom>
        </p:spPr>
      </p:pic>
      <p:sp>
        <p:nvSpPr>
          <p:cNvPr id="94" name="Text 62"/>
          <p:cNvSpPr txBox="1"/>
          <p:nvPr/>
        </p:nvSpPr>
        <p:spPr>
          <a:xfrm>
            <a:off x="548640" y="56875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3B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clinically strong but built for hospitals and specialised cameras. DrishtiAI is positioned for the field-screening gap — combining smartphone capture, visual explainability and an ASHA-worker workflow that these tools were not designed for.</a:t>
            </a:r>
            <a:endParaRPr lang="en-US" sz="1150" dirty="0"/>
          </a:p>
        </p:txBody>
      </p:sp>
      <p:sp>
        <p:nvSpPr>
          <p:cNvPr id="95" name="Text 63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DrishtiAI  ·  Explainable DR Screening</a:t>
            </a:r>
            <a:endParaRPr lang="en-US" sz="950" dirty="0"/>
          </a:p>
        </p:txBody>
      </p:sp>
      <p:sp>
        <p:nvSpPr>
          <p:cNvPr id="96" name="Text 64"/>
          <p:cNvSpPr txBox="1"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— and Why Each Piece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89960" cy="1341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190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447" y="1855135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737360"/>
            <a:ext cx="239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481328" y="1965960"/>
            <a:ext cx="239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432304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component-based medical UI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9496" y="1463040"/>
            <a:ext cx="3489960" cy="1341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7240" y="17190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303" y="1855135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82184" y="1737360"/>
            <a:ext cx="239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282184" y="1965960"/>
            <a:ext cx="239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87240" y="2432304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async API layer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50352" y="1463040"/>
            <a:ext cx="3489960" cy="1341120"/>
          </a:xfrm>
          <a:prstGeom prst="roundRect">
            <a:avLst>
              <a:gd name="adj" fmla="val 6818"/>
            </a:avLst>
          </a:prstGeom>
          <a:solidFill>
            <a:srgbClr val="0C2140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8096" y="17190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159" y="1855135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83040" y="1737360"/>
            <a:ext cx="239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9083040" y="1965960"/>
            <a:ext cx="239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8388096" y="2432304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 for image classification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078480"/>
            <a:ext cx="3489960" cy="1341120"/>
          </a:xfrm>
          <a:prstGeom prst="roundRect">
            <a:avLst>
              <a:gd name="adj" fmla="val 6818"/>
            </a:avLst>
          </a:prstGeom>
          <a:solidFill>
            <a:srgbClr val="0C2140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86384" y="333451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47" y="3470575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81328" y="3352800"/>
            <a:ext cx="239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481328" y="3581400"/>
            <a:ext cx="239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786384" y="4047744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Visualises where the model looked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49496" y="3078480"/>
            <a:ext cx="3489960" cy="1341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87240" y="333451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303" y="3470575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282184" y="3352800"/>
            <a:ext cx="239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5282184" y="3581400"/>
            <a:ext cx="239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API</a:t>
            </a:r>
            <a:endParaRPr lang="en-US" sz="1550" dirty="0"/>
          </a:p>
        </p:txBody>
      </p:sp>
      <p:sp>
        <p:nvSpPr>
          <p:cNvPr id="33" name="Text 26"/>
          <p:cNvSpPr txBox="1"/>
          <p:nvPr/>
        </p:nvSpPr>
        <p:spPr>
          <a:xfrm>
            <a:off x="4587240" y="4047744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 plain-language report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50352" y="3078480"/>
            <a:ext cx="3489960" cy="1341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88096" y="333451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159" y="3470575"/>
            <a:ext cx="294803" cy="29480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83040" y="3352800"/>
            <a:ext cx="239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9083040" y="3581400"/>
            <a:ext cx="239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550" dirty="0"/>
          </a:p>
        </p:txBody>
      </p:sp>
      <p:sp>
        <p:nvSpPr>
          <p:cNvPr id="39" name="Text 31"/>
          <p:cNvSpPr txBox="1"/>
          <p:nvPr/>
        </p:nvSpPr>
        <p:spPr>
          <a:xfrm>
            <a:off x="8388096" y="4047744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screening records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48640" y="4693920"/>
            <a:ext cx="3489960" cy="1341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86384" y="494995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447" y="5086015"/>
            <a:ext cx="294803" cy="294803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481328" y="4968240"/>
            <a:ext cx="239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44" name="Text 35"/>
          <p:cNvSpPr txBox="1"/>
          <p:nvPr/>
        </p:nvSpPr>
        <p:spPr>
          <a:xfrm>
            <a:off x="1481328" y="5196840"/>
            <a:ext cx="239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550" dirty="0"/>
          </a:p>
        </p:txBody>
      </p:sp>
      <p:sp>
        <p:nvSpPr>
          <p:cNvPr id="45" name="Text 36"/>
          <p:cNvSpPr txBox="1"/>
          <p:nvPr/>
        </p:nvSpPr>
        <p:spPr>
          <a:xfrm>
            <a:off x="786384" y="5663184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Google sign-in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4349496" y="4693920"/>
            <a:ext cx="3489960" cy="1341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4587240" y="494995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3303" y="5086015"/>
            <a:ext cx="294803" cy="294803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5282184" y="4968240"/>
            <a:ext cx="239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50" name="Text 40"/>
          <p:cNvSpPr txBox="1"/>
          <p:nvPr/>
        </p:nvSpPr>
        <p:spPr>
          <a:xfrm>
            <a:off x="5282184" y="5196840"/>
            <a:ext cx="239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Cloud Run</a:t>
            </a:r>
            <a:endParaRPr lang="en-US" sz="1550" dirty="0"/>
          </a:p>
        </p:txBody>
      </p:sp>
      <p:sp>
        <p:nvSpPr>
          <p:cNvPr id="51" name="Text 41"/>
          <p:cNvSpPr txBox="1"/>
          <p:nvPr/>
        </p:nvSpPr>
        <p:spPr>
          <a:xfrm>
            <a:off x="4587240" y="5663184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auto-scaling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8150352" y="4693920"/>
            <a:ext cx="3489960" cy="134112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8388096" y="494995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4159" y="5086015"/>
            <a:ext cx="294803" cy="294803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9083040" y="4968240"/>
            <a:ext cx="2392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PDF</a:t>
            </a:r>
            <a:endParaRPr lang="en-US" sz="1050" dirty="0"/>
          </a:p>
        </p:txBody>
      </p:sp>
      <p:sp>
        <p:nvSpPr>
          <p:cNvPr id="56" name="Text 45"/>
          <p:cNvSpPr txBox="1"/>
          <p:nvPr/>
        </p:nvSpPr>
        <p:spPr>
          <a:xfrm>
            <a:off x="9083040" y="5196840"/>
            <a:ext cx="239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1550" dirty="0"/>
          </a:p>
        </p:txBody>
      </p:sp>
      <p:sp>
        <p:nvSpPr>
          <p:cNvPr id="57" name="Text 46"/>
          <p:cNvSpPr txBox="1"/>
          <p:nvPr/>
        </p:nvSpPr>
        <p:spPr>
          <a:xfrm>
            <a:off x="8388096" y="5663184"/>
            <a:ext cx="303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PDF generation</a:t>
            </a:r>
            <a:endParaRPr lang="en-US" sz="1100" dirty="0"/>
          </a:p>
        </p:txBody>
      </p:sp>
      <p:sp>
        <p:nvSpPr>
          <p:cNvPr id="58" name="Text 47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DrishtiAI  ·  Explainable DR Screening</a:t>
            </a:r>
            <a:endParaRPr lang="en-US" sz="950" dirty="0"/>
          </a:p>
        </p:txBody>
      </p:sp>
      <p:sp>
        <p:nvSpPr>
          <p:cNvPr id="59" name="Text 48"/>
          <p:cNvSpPr txBox="1"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DrishtiAI Works,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1060704"/>
          </a:xfrm>
          <a:prstGeom prst="roundRect">
            <a:avLst>
              <a:gd name="adj" fmla="val 7759"/>
            </a:avLst>
          </a:prstGeom>
          <a:solidFill>
            <a:srgbClr val="EAF1F8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627632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0C2140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79222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7BEC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1897563"/>
            <a:ext cx="228234" cy="2282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8105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688336"/>
            <a:ext cx="11091672" cy="1060704"/>
          </a:xfrm>
          <a:prstGeom prst="roundRect">
            <a:avLst>
              <a:gd name="adj" fmla="val 7759"/>
            </a:avLst>
          </a:prstGeom>
          <a:solidFill>
            <a:srgbClr val="E7F0F8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2834640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0C2140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299923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7BEC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3104571"/>
            <a:ext cx="228234" cy="22823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301752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895344"/>
            <a:ext cx="11091672" cy="1060704"/>
          </a:xfrm>
          <a:prstGeom prst="roundRect">
            <a:avLst>
              <a:gd name="adj" fmla="val 7759"/>
            </a:avLst>
          </a:prstGeom>
          <a:solidFill>
            <a:srgbClr val="E9F1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58368" y="4041648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0C2140"/>
          </a:solidFill>
          <a:ln/>
        </p:spPr>
      </p:sp>
      <p:sp>
        <p:nvSpPr>
          <p:cNvPr id="16" name="Shape 12"/>
          <p:cNvSpPr/>
          <p:nvPr/>
        </p:nvSpPr>
        <p:spPr>
          <a:xfrm>
            <a:off x="768096" y="42062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7BEC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5" y="4311579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422452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5102352"/>
            <a:ext cx="11091672" cy="1060704"/>
          </a:xfrm>
          <a:prstGeom prst="roundRect">
            <a:avLst>
              <a:gd name="adj" fmla="val 7759"/>
            </a:avLst>
          </a:prstGeom>
          <a:solidFill>
            <a:srgbClr val="EAF1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" y="5248656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0C2140"/>
          </a:solidFill>
          <a:ln/>
        </p:spPr>
      </p:sp>
      <p:sp>
        <p:nvSpPr>
          <p:cNvPr id="21" name="Shape 16"/>
          <p:cNvSpPr/>
          <p:nvPr/>
        </p:nvSpPr>
        <p:spPr>
          <a:xfrm>
            <a:off x="768096" y="541324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7BEC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35" y="5518587"/>
            <a:ext cx="228234" cy="22823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54315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DATA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2871216" y="1645920"/>
            <a:ext cx="22128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2999232" y="17647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2980944" y="204825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5797296" y="1645920"/>
            <a:ext cx="22128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5925312" y="17647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5907024" y="204825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930" dirty="0"/>
          </a:p>
        </p:txBody>
      </p:sp>
      <p:sp>
        <p:nvSpPr>
          <p:cNvPr id="30" name="Shape 24"/>
          <p:cNvSpPr/>
          <p:nvPr/>
        </p:nvSpPr>
        <p:spPr>
          <a:xfrm>
            <a:off x="8723376" y="1645920"/>
            <a:ext cx="22128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8851392" y="17647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Fundus upload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8833104" y="204825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Retinal photo</a:t>
            </a:r>
            <a:endParaRPr lang="en-US" sz="930" dirty="0"/>
          </a:p>
        </p:txBody>
      </p:sp>
      <p:sp>
        <p:nvSpPr>
          <p:cNvPr id="33" name="Shape 27"/>
          <p:cNvSpPr/>
          <p:nvPr/>
        </p:nvSpPr>
        <p:spPr>
          <a:xfrm>
            <a:off x="5084064" y="2011680"/>
            <a:ext cx="713232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8010144" y="2011680"/>
            <a:ext cx="713232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8723376" y="2852928"/>
            <a:ext cx="2212848" cy="731520"/>
          </a:xfrm>
          <a:prstGeom prst="roundRect">
            <a:avLst>
              <a:gd name="adj" fmla="val 10000"/>
            </a:avLst>
          </a:prstGeom>
          <a:solidFill>
            <a:srgbClr val="0C2140"/>
          </a:solidFill>
          <a:ln w="12700">
            <a:solidFill>
              <a:srgbClr val="0C2140"/>
            </a:solidFill>
            <a:prstDash val="solid"/>
          </a:ln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36" name="Text 30"/>
          <p:cNvSpPr txBox="1"/>
          <p:nvPr/>
        </p:nvSpPr>
        <p:spPr>
          <a:xfrm>
            <a:off x="8851392" y="297180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50" dirty="0"/>
          </a:p>
        </p:txBody>
      </p:sp>
      <p:sp>
        <p:nvSpPr>
          <p:cNvPr id="37" name="Text 31"/>
          <p:cNvSpPr txBox="1"/>
          <p:nvPr/>
        </p:nvSpPr>
        <p:spPr>
          <a:xfrm>
            <a:off x="8833104" y="325526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Cloud Run</a:t>
            </a:r>
            <a:endParaRPr lang="en-US" sz="930" dirty="0"/>
          </a:p>
        </p:txBody>
      </p:sp>
      <p:sp>
        <p:nvSpPr>
          <p:cNvPr id="38" name="Text 32"/>
          <p:cNvSpPr txBox="1"/>
          <p:nvPr/>
        </p:nvSpPr>
        <p:spPr>
          <a:xfrm>
            <a:off x="2871216" y="2999232"/>
            <a:ext cx="4204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B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image and orchestrates the AI pipeline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9829800" y="2377440"/>
            <a:ext cx="0" cy="475488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8723376" y="4059936"/>
            <a:ext cx="2212848" cy="731520"/>
          </a:xfrm>
          <a:prstGeom prst="roundRect">
            <a:avLst>
              <a:gd name="adj" fmla="val 10000"/>
            </a:avLst>
          </a:prstGeom>
          <a:solidFill>
            <a:srgbClr val="0C2140"/>
          </a:solidFill>
          <a:ln w="12700">
            <a:solidFill>
              <a:srgbClr val="0C2140"/>
            </a:solidFill>
            <a:prstDash val="solid"/>
          </a:ln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41" name="Text 35"/>
          <p:cNvSpPr txBox="1"/>
          <p:nvPr/>
        </p:nvSpPr>
        <p:spPr>
          <a:xfrm>
            <a:off x="8851392" y="417880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</a:t>
            </a:r>
            <a:endParaRPr lang="en-US" sz="1250" dirty="0"/>
          </a:p>
        </p:txBody>
      </p:sp>
      <p:sp>
        <p:nvSpPr>
          <p:cNvPr id="42" name="Text 36"/>
          <p:cNvSpPr txBox="1"/>
          <p:nvPr/>
        </p:nvSpPr>
        <p:spPr>
          <a:xfrm>
            <a:off x="8833104" y="446227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stage</a:t>
            </a:r>
            <a:endParaRPr lang="en-US" sz="930" dirty="0"/>
          </a:p>
        </p:txBody>
      </p:sp>
      <p:sp>
        <p:nvSpPr>
          <p:cNvPr id="43" name="Shape 37"/>
          <p:cNvSpPr/>
          <p:nvPr/>
        </p:nvSpPr>
        <p:spPr>
          <a:xfrm>
            <a:off x="5797296" y="4059936"/>
            <a:ext cx="2212848" cy="731520"/>
          </a:xfrm>
          <a:prstGeom prst="roundRect">
            <a:avLst>
              <a:gd name="adj" fmla="val 10000"/>
            </a:avLst>
          </a:prstGeom>
          <a:solidFill>
            <a:srgbClr val="0C2140"/>
          </a:solidFill>
          <a:ln w="12700">
            <a:solidFill>
              <a:srgbClr val="0C2140"/>
            </a:solidFill>
            <a:prstDash val="solid"/>
          </a:ln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44" name="Text 38"/>
          <p:cNvSpPr txBox="1"/>
          <p:nvPr/>
        </p:nvSpPr>
        <p:spPr>
          <a:xfrm>
            <a:off x="5925312" y="417880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250" dirty="0"/>
          </a:p>
        </p:txBody>
      </p:sp>
      <p:sp>
        <p:nvSpPr>
          <p:cNvPr id="45" name="Text 39"/>
          <p:cNvSpPr txBox="1"/>
          <p:nvPr/>
        </p:nvSpPr>
        <p:spPr>
          <a:xfrm>
            <a:off x="5907024" y="446227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heatmap</a:t>
            </a:r>
            <a:endParaRPr lang="en-US" sz="930" dirty="0"/>
          </a:p>
        </p:txBody>
      </p:sp>
      <p:sp>
        <p:nvSpPr>
          <p:cNvPr id="46" name="Shape 40"/>
          <p:cNvSpPr/>
          <p:nvPr/>
        </p:nvSpPr>
        <p:spPr>
          <a:xfrm>
            <a:off x="2871216" y="4059936"/>
            <a:ext cx="22128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47" name="Text 41"/>
          <p:cNvSpPr txBox="1"/>
          <p:nvPr/>
        </p:nvSpPr>
        <p:spPr>
          <a:xfrm>
            <a:off x="2999232" y="417880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</a:t>
            </a:r>
            <a:endParaRPr lang="en-US" sz="1250" dirty="0"/>
          </a:p>
        </p:txBody>
      </p:sp>
      <p:sp>
        <p:nvSpPr>
          <p:cNvPr id="48" name="Text 42"/>
          <p:cNvSpPr txBox="1"/>
          <p:nvPr/>
        </p:nvSpPr>
        <p:spPr>
          <a:xfrm>
            <a:off x="2980944" y="446227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text</a:t>
            </a:r>
            <a:endParaRPr lang="en-US" sz="930" dirty="0"/>
          </a:p>
        </p:txBody>
      </p:sp>
      <p:sp>
        <p:nvSpPr>
          <p:cNvPr id="49" name="Shape 43"/>
          <p:cNvSpPr/>
          <p:nvPr/>
        </p:nvSpPr>
        <p:spPr>
          <a:xfrm>
            <a:off x="9829800" y="3584448"/>
            <a:ext cx="0" cy="475488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50" name="Shape 44"/>
          <p:cNvSpPr/>
          <p:nvPr/>
        </p:nvSpPr>
        <p:spPr>
          <a:xfrm>
            <a:off x="8010144" y="4425696"/>
            <a:ext cx="713232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triangle"/>
            <a:tailEnd type="none"/>
          </a:ln>
        </p:spPr>
      </p:sp>
      <p:sp>
        <p:nvSpPr>
          <p:cNvPr id="51" name="Shape 45"/>
          <p:cNvSpPr/>
          <p:nvPr/>
        </p:nvSpPr>
        <p:spPr>
          <a:xfrm>
            <a:off x="5084064" y="4425696"/>
            <a:ext cx="713232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triangle"/>
            <a:tailEnd type="none"/>
          </a:ln>
        </p:spPr>
      </p:sp>
      <p:sp>
        <p:nvSpPr>
          <p:cNvPr id="52" name="Shape 46"/>
          <p:cNvSpPr/>
          <p:nvPr/>
        </p:nvSpPr>
        <p:spPr>
          <a:xfrm>
            <a:off x="2871216" y="5266944"/>
            <a:ext cx="22128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53" name="Text 47"/>
          <p:cNvSpPr txBox="1"/>
          <p:nvPr/>
        </p:nvSpPr>
        <p:spPr>
          <a:xfrm>
            <a:off x="2999232" y="538581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report</a:t>
            </a:r>
            <a:endParaRPr lang="en-US" sz="1250" dirty="0"/>
          </a:p>
        </p:txBody>
      </p:sp>
      <p:sp>
        <p:nvSpPr>
          <p:cNvPr id="54" name="Text 48"/>
          <p:cNvSpPr txBox="1"/>
          <p:nvPr/>
        </p:nvSpPr>
        <p:spPr>
          <a:xfrm>
            <a:off x="2980944" y="566928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PDF</a:t>
            </a:r>
            <a:endParaRPr lang="en-US" sz="930" dirty="0"/>
          </a:p>
        </p:txBody>
      </p:sp>
      <p:sp>
        <p:nvSpPr>
          <p:cNvPr id="55" name="Shape 49"/>
          <p:cNvSpPr/>
          <p:nvPr/>
        </p:nvSpPr>
        <p:spPr>
          <a:xfrm>
            <a:off x="5797296" y="5266944"/>
            <a:ext cx="22128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56" name="Text 50"/>
          <p:cNvSpPr txBox="1"/>
          <p:nvPr/>
        </p:nvSpPr>
        <p:spPr>
          <a:xfrm>
            <a:off x="5925312" y="538581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250" dirty="0"/>
          </a:p>
        </p:txBody>
      </p:sp>
      <p:sp>
        <p:nvSpPr>
          <p:cNvPr id="57" name="Text 51"/>
          <p:cNvSpPr txBox="1"/>
          <p:nvPr/>
        </p:nvSpPr>
        <p:spPr>
          <a:xfrm>
            <a:off x="5907024" y="566928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records</a:t>
            </a:r>
            <a:endParaRPr lang="en-US" sz="930" dirty="0"/>
          </a:p>
        </p:txBody>
      </p:sp>
      <p:sp>
        <p:nvSpPr>
          <p:cNvPr id="58" name="Shape 52"/>
          <p:cNvSpPr/>
          <p:nvPr/>
        </p:nvSpPr>
        <p:spPr>
          <a:xfrm>
            <a:off x="8723376" y="5266944"/>
            <a:ext cx="221284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59" name="Text 53"/>
          <p:cNvSpPr txBox="1"/>
          <p:nvPr/>
        </p:nvSpPr>
        <p:spPr>
          <a:xfrm>
            <a:off x="8851392" y="538581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dashboard</a:t>
            </a:r>
            <a:endParaRPr lang="en-US" sz="1250" dirty="0"/>
          </a:p>
        </p:txBody>
      </p:sp>
      <p:sp>
        <p:nvSpPr>
          <p:cNvPr id="60" name="Text 54"/>
          <p:cNvSpPr txBox="1"/>
          <p:nvPr/>
        </p:nvSpPr>
        <p:spPr>
          <a:xfrm>
            <a:off x="8833104" y="566928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history</a:t>
            </a:r>
            <a:endParaRPr lang="en-US" sz="930" dirty="0"/>
          </a:p>
        </p:txBody>
      </p:sp>
      <p:sp>
        <p:nvSpPr>
          <p:cNvPr id="61" name="Shape 55"/>
          <p:cNvSpPr/>
          <p:nvPr/>
        </p:nvSpPr>
        <p:spPr>
          <a:xfrm>
            <a:off x="3977640" y="4791456"/>
            <a:ext cx="0" cy="475488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62" name="Shape 56"/>
          <p:cNvSpPr/>
          <p:nvPr/>
        </p:nvSpPr>
        <p:spPr>
          <a:xfrm>
            <a:off x="5084064" y="5632704"/>
            <a:ext cx="713232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63" name="Shape 57"/>
          <p:cNvSpPr/>
          <p:nvPr/>
        </p:nvSpPr>
        <p:spPr>
          <a:xfrm>
            <a:off x="8010144" y="5632704"/>
            <a:ext cx="713232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64" name="Text 58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DrishtiAI  ·  Explainable DR Screening</a:t>
            </a:r>
            <a:endParaRPr lang="en-US" sz="950" dirty="0"/>
          </a:p>
        </p:txBody>
      </p:sp>
      <p:sp>
        <p:nvSpPr>
          <p:cNvPr id="65" name="Text 59"/>
          <p:cNvSpPr txBox="1"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EXPLAINABILITY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Behind DrishtiAI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9616"/>
            <a:ext cx="243230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82496"/>
            <a:ext cx="1426464" cy="1426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1821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Fundus image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438144" y="1499616"/>
            <a:ext cx="2432304" cy="2084832"/>
          </a:xfrm>
          <a:prstGeom prst="roundRect">
            <a:avLst>
              <a:gd name="adj" fmla="val 4386"/>
            </a:avLst>
          </a:prstGeom>
          <a:solidFill>
            <a:srgbClr val="0C2140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34256" y="171907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875" y="1872691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38144" y="24505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3438144" y="274320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DR stage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014216" y="303580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8455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014216" y="30358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27648" y="1499616"/>
            <a:ext cx="243230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1682496"/>
            <a:ext cx="1426464" cy="1426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27648" y="31821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217152" y="1499616"/>
            <a:ext cx="2432304" cy="2084832"/>
          </a:xfrm>
          <a:prstGeom prst="roundRect">
            <a:avLst>
              <a:gd name="adj" fmla="val 4386"/>
            </a:avLst>
          </a:prstGeom>
          <a:solidFill>
            <a:srgbClr val="E4F8FA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0113264" y="171907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0E93A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883" y="1872691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17152" y="24505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result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9354312" y="2779776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B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+ the regions that</a:t>
            </a:r>
            <a:endParaRPr lang="en-US" sz="10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3B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influenced it, shown visually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3035808" y="2542032"/>
            <a:ext cx="347472" cy="0"/>
          </a:xfrm>
          <a:prstGeom prst="line">
            <a:avLst/>
          </a:prstGeom>
          <a:noFill/>
          <a:ln w="33020">
            <a:solidFill>
              <a:srgbClr val="0E93A6"/>
            </a:solidFill>
            <a:prstDash val="solid"/>
            <a:headEnd type="none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5925312" y="2542032"/>
            <a:ext cx="347472" cy="0"/>
          </a:xfrm>
          <a:prstGeom prst="line">
            <a:avLst/>
          </a:prstGeom>
          <a:noFill/>
          <a:ln w="33020">
            <a:solidFill>
              <a:srgbClr val="0E93A6"/>
            </a:solidFill>
            <a:prstDash val="solid"/>
            <a:headEnd type="none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814816" y="2542032"/>
            <a:ext cx="347472" cy="0"/>
          </a:xfrm>
          <a:prstGeom prst="line">
            <a:avLst/>
          </a:prstGeom>
          <a:noFill/>
          <a:ln w="33020">
            <a:solidFill>
              <a:srgbClr val="0E93A6"/>
            </a:solidFill>
            <a:prstDash val="solid"/>
            <a:headEnd type="none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548640" y="3822192"/>
            <a:ext cx="5468112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86384" y="405993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279" y="4182831"/>
            <a:ext cx="266273" cy="26627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44752" y="409651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804672" y="4718304"/>
            <a:ext cx="4956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 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B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CNN that sorts a fundus image into one of five DR stages.</a:t>
            </a:r>
            <a:endParaRPr lang="en-US" sz="1130" dirty="0"/>
          </a:p>
        </p:txBody>
      </p:sp>
      <p:sp>
        <p:nvSpPr>
          <p:cNvPr id="30" name="Text 23"/>
          <p:cNvSpPr txBox="1"/>
          <p:nvPr/>
        </p:nvSpPr>
        <p:spPr>
          <a:xfrm>
            <a:off x="804672" y="5157216"/>
            <a:ext cx="4956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B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Pre-trained, so it runs fast on Cloud Run without days of training.</a:t>
            </a:r>
            <a:endParaRPr lang="en-US" sz="1130" dirty="0"/>
          </a:p>
        </p:txBody>
      </p:sp>
      <p:sp>
        <p:nvSpPr>
          <p:cNvPr id="31" name="Shape 24"/>
          <p:cNvSpPr/>
          <p:nvPr/>
        </p:nvSpPr>
        <p:spPr>
          <a:xfrm>
            <a:off x="6172200" y="3822192"/>
            <a:ext cx="5468112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09944" y="4059936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839" y="4182831"/>
            <a:ext cx="266273" cy="266273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068312" y="409651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428232" y="4718304"/>
            <a:ext cx="4956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 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B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image regions that most influenced the prediction.</a:t>
            </a:r>
            <a:endParaRPr lang="en-US" sz="1130" dirty="0"/>
          </a:p>
        </p:txBody>
      </p:sp>
      <p:sp>
        <p:nvSpPr>
          <p:cNvPr id="36" name="Text 28"/>
          <p:cNvSpPr txBox="1"/>
          <p:nvPr/>
        </p:nvSpPr>
        <p:spPr>
          <a:xfrm>
            <a:off x="6428232" y="5157216"/>
            <a:ext cx="4956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B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health worker a visual reason, not just a label.</a:t>
            </a:r>
            <a:endParaRPr lang="en-US" sz="1130" dirty="0"/>
          </a:p>
        </p:txBody>
      </p:sp>
      <p:sp>
        <p:nvSpPr>
          <p:cNvPr id="37" name="Shape 29"/>
          <p:cNvSpPr/>
          <p:nvPr/>
        </p:nvSpPr>
        <p:spPr>
          <a:xfrm>
            <a:off x="548640" y="5779008"/>
            <a:ext cx="11091672" cy="457200"/>
          </a:xfrm>
          <a:prstGeom prst="roundRect">
            <a:avLst>
              <a:gd name="adj" fmla="val 20000"/>
            </a:avLst>
          </a:prstGeom>
          <a:solidFill>
            <a:srgbClr val="FCE9EC"/>
          </a:solidFill>
          <a:ln/>
        </p:spPr>
      </p:sp>
      <p:sp>
        <p:nvSpPr>
          <p:cNvPr id="38" name="Shape 30"/>
          <p:cNvSpPr/>
          <p:nvPr/>
        </p:nvSpPr>
        <p:spPr>
          <a:xfrm>
            <a:off x="676656" y="58521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8455C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271" y="5926775"/>
            <a:ext cx="161666" cy="16166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115568" y="57790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2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provides model interpretability — it indicates influence on the prediction, not clinical proof of a lesion.</a:t>
            </a:r>
            <a:endParaRPr lang="en-US" sz="1100" dirty="0"/>
          </a:p>
        </p:txBody>
      </p:sp>
      <p:sp>
        <p:nvSpPr>
          <p:cNvPr id="41" name="Text 32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DrishtiAI  ·  Explainable DR Screening</a:t>
            </a:r>
            <a:endParaRPr lang="en-US" sz="950" dirty="0"/>
          </a:p>
        </p:txBody>
      </p:sp>
      <p:sp>
        <p:nvSpPr>
          <p:cNvPr id="42" name="Text 33"/>
          <p:cNvSpPr txBox="1"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Rural Health Workers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1517904"/>
            <a:ext cx="141732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88720" y="41696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88720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45161" y="4535424"/>
            <a:ext cx="23797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45161" y="4791456"/>
            <a:ext cx="23797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2176272" y="2843784"/>
            <a:ext cx="697230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090" y="1517904"/>
            <a:ext cx="1417320" cy="2651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68446" y="41696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568446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524887" y="4535424"/>
            <a:ext cx="23797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524887" y="4791456"/>
            <a:ext cx="23797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the retina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4555998" y="2843784"/>
            <a:ext cx="697230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517904"/>
            <a:ext cx="1417320" cy="26517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948172" y="41696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5948172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904613" y="4535424"/>
            <a:ext cx="23797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904613" y="4791456"/>
            <a:ext cx="23797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+ confidence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6935724" y="2843784"/>
            <a:ext cx="697230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5542" y="1517904"/>
            <a:ext cx="1417320" cy="265176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327898" y="41696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327898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7284339" y="4535424"/>
            <a:ext cx="23797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7284339" y="4791456"/>
            <a:ext cx="23797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</a:t>
            </a:r>
            <a:endParaRPr lang="en-US" sz="980" dirty="0"/>
          </a:p>
        </p:txBody>
      </p:sp>
      <p:sp>
        <p:nvSpPr>
          <p:cNvPr id="27" name="Shape 21"/>
          <p:cNvSpPr/>
          <p:nvPr/>
        </p:nvSpPr>
        <p:spPr>
          <a:xfrm>
            <a:off x="9315450" y="2843784"/>
            <a:ext cx="697230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5268" y="1517904"/>
            <a:ext cx="1417320" cy="265176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10707624" y="41696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10707624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664065" y="4535424"/>
            <a:ext cx="23797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664065" y="4791456"/>
            <a:ext cx="23797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</a:t>
            </a:r>
            <a:endParaRPr lang="en-US" sz="980" dirty="0"/>
          </a:p>
        </p:txBody>
      </p:sp>
      <p:sp>
        <p:nvSpPr>
          <p:cNvPr id="33" name="Shape 26"/>
          <p:cNvSpPr/>
          <p:nvPr/>
        </p:nvSpPr>
        <p:spPr>
          <a:xfrm>
            <a:off x="548640" y="5175504"/>
            <a:ext cx="11091672" cy="1170432"/>
          </a:xfrm>
          <a:prstGeom prst="roundRect">
            <a:avLst>
              <a:gd name="adj" fmla="val 7813"/>
            </a:avLst>
          </a:prstGeom>
          <a:solidFill>
            <a:srgbClr val="0C2140"/>
          </a:solidFill>
          <a:ln/>
        </p:spPr>
      </p:sp>
      <p:sp>
        <p:nvSpPr>
          <p:cNvPr id="34" name="Shape 27"/>
          <p:cNvSpPr/>
          <p:nvPr/>
        </p:nvSpPr>
        <p:spPr>
          <a:xfrm>
            <a:off x="804672" y="54864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6" y="5618074"/>
            <a:ext cx="285293" cy="28529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499616" y="5358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screening dashboard</a:t>
            </a:r>
            <a:endParaRPr lang="en-US" sz="1450" dirty="0"/>
          </a:p>
        </p:txBody>
      </p:sp>
      <p:sp>
        <p:nvSpPr>
          <p:cNvPr id="37" name="Text 29"/>
          <p:cNvSpPr txBox="1"/>
          <p:nvPr/>
        </p:nvSpPr>
        <p:spPr>
          <a:xfrm>
            <a:off x="1499616" y="56875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screening — stage, confidence and date — in one shared, searchable record.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5943600" y="53949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2365F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6071616" y="550468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014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071616" y="5779008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E8455C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071616" y="57790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7354824" y="53949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2365F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7482840" y="550468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021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7482840" y="5779008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7FC46B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7482840" y="57790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8766048" y="53949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2365F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8894064" y="550468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033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8894064" y="5779008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E7A13A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8894064" y="57790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10177272" y="53949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2365F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10305288" y="550468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047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10305288" y="5779008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1FB6A6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10305288" y="57790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</a:t>
            </a:r>
            <a:endParaRPr lang="en-US" sz="1000" dirty="0"/>
          </a:p>
        </p:txBody>
      </p:sp>
      <p:sp>
        <p:nvSpPr>
          <p:cNvPr id="54" name="Text 46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DrishtiAI  ·  Explainable DR Screening</a:t>
            </a:r>
            <a:endParaRPr lang="en-US" sz="950" dirty="0"/>
          </a:p>
        </p:txBody>
      </p:sp>
      <p:sp>
        <p:nvSpPr>
          <p:cNvPr id="55" name="Text 47"/>
          <p:cNvSpPr txBox="1"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83664"/>
            <a:ext cx="10725912" cy="0"/>
          </a:xfrm>
          <a:prstGeom prst="line">
            <a:avLst/>
          </a:prstGeom>
          <a:noFill/>
          <a:ln w="25400">
            <a:solidFill>
              <a:srgbClr val="D9E6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8935" y="1764792"/>
            <a:ext cx="237744" cy="237744"/>
          </a:xfrm>
          <a:prstGeom prst="ellipse">
            <a:avLst/>
          </a:prstGeom>
          <a:solidFill>
            <a:srgbClr val="0C21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2218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19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84832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77440"/>
            <a:ext cx="188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Firebase, Cloud Run, repo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57270" y="1764792"/>
            <a:ext cx="237744" cy="237744"/>
          </a:xfrm>
          <a:prstGeom prst="ellipse">
            <a:avLst/>
          </a:prstGeom>
          <a:solidFill>
            <a:srgbClr val="0C21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66974" y="1463040"/>
            <a:ext cx="2218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766974" y="2084832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31566" y="2377440"/>
            <a:ext cx="188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+ Grad-CAM, FastAPI, React upload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75604" y="1764792"/>
            <a:ext cx="237744" cy="237744"/>
          </a:xfrm>
          <a:prstGeom prst="ellipse">
            <a:avLst/>
          </a:prstGeom>
          <a:solidFill>
            <a:srgbClr val="0C21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5309" y="1463040"/>
            <a:ext cx="2218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21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85309" y="2084832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49901" y="2377440"/>
            <a:ext cx="188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report, jsPDF, dashboard, UI polish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93938" y="1764792"/>
            <a:ext cx="237744" cy="237744"/>
          </a:xfrm>
          <a:prstGeom prst="ellipse">
            <a:avLst/>
          </a:prstGeom>
          <a:solidFill>
            <a:srgbClr val="0C21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03643" y="1463040"/>
            <a:ext cx="2218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22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203643" y="2084832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deck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68235" y="2377440"/>
            <a:ext cx="188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images, demo video, README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412273" y="1764792"/>
            <a:ext cx="237744" cy="237744"/>
          </a:xfrm>
          <a:prstGeom prst="ellipse">
            <a:avLst/>
          </a:prstGeom>
          <a:solidFill>
            <a:srgbClr val="17BEC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21978" y="1463040"/>
            <a:ext cx="2218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23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421978" y="2084832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586570" y="2377440"/>
            <a:ext cx="1889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tests, Cloud Run deploy, submit (GFG)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639312"/>
            <a:ext cx="2013509" cy="2340864"/>
          </a:xfrm>
          <a:prstGeom prst="roundRect">
            <a:avLst>
              <a:gd name="adj" fmla="val 4541"/>
            </a:avLst>
          </a:prstGeom>
          <a:solidFill>
            <a:srgbClr val="0C2140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262786" y="3877056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238" y="4017508"/>
            <a:ext cx="304312" cy="30431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58368" y="4572000"/>
            <a:ext cx="1794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Mahin Sabry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5010912"/>
            <a:ext cx="18306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· AI, Backend &amp; Deploy</a:t>
            </a:r>
            <a:endParaRPr lang="en-US" sz="980" dirty="0"/>
          </a:p>
        </p:txBody>
      </p:sp>
      <p:sp>
        <p:nvSpPr>
          <p:cNvPr id="30" name="Text 27"/>
          <p:cNvSpPr txBox="1"/>
          <p:nvPr/>
        </p:nvSpPr>
        <p:spPr>
          <a:xfrm>
            <a:off x="676656" y="5431536"/>
            <a:ext cx="175747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Grad-CAM, FastAPI, Cloud Run, Firebase, Gemini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2818181" y="3639312"/>
            <a:ext cx="2013509" cy="2340864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532327" y="3877056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779" y="4017508"/>
            <a:ext cx="304312" cy="30431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2927909" y="4572000"/>
            <a:ext cx="1794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 Naokarkar</a:t>
            </a:r>
            <a:endParaRPr lang="en-US" sz="1250" dirty="0"/>
          </a:p>
        </p:txBody>
      </p:sp>
      <p:sp>
        <p:nvSpPr>
          <p:cNvPr id="35" name="Text 31"/>
          <p:cNvSpPr txBox="1"/>
          <p:nvPr/>
        </p:nvSpPr>
        <p:spPr>
          <a:xfrm>
            <a:off x="2909621" y="5010912"/>
            <a:ext cx="18306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Lead</a:t>
            </a:r>
            <a:endParaRPr lang="en-US" sz="980" dirty="0"/>
          </a:p>
        </p:txBody>
      </p:sp>
      <p:sp>
        <p:nvSpPr>
          <p:cNvPr id="36" name="Text 32"/>
          <p:cNvSpPr txBox="1"/>
          <p:nvPr/>
        </p:nvSpPr>
        <p:spPr>
          <a:xfrm>
            <a:off x="2946197" y="5431536"/>
            <a:ext cx="175747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UI, image upload, result cards, responsive design</a:t>
            </a:r>
            <a:endParaRPr lang="en-US" sz="880" dirty="0"/>
          </a:p>
        </p:txBody>
      </p:sp>
      <p:sp>
        <p:nvSpPr>
          <p:cNvPr id="37" name="Shape 33"/>
          <p:cNvSpPr/>
          <p:nvPr/>
        </p:nvSpPr>
        <p:spPr>
          <a:xfrm>
            <a:off x="5087722" y="3639312"/>
            <a:ext cx="2013509" cy="2340864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801868" y="3877056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320" y="4017508"/>
            <a:ext cx="304312" cy="304312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5197450" y="4572000"/>
            <a:ext cx="1794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Kangana Batghare</a:t>
            </a:r>
            <a:endParaRPr lang="en-US" sz="1250" dirty="0"/>
          </a:p>
        </p:txBody>
      </p:sp>
      <p:sp>
        <p:nvSpPr>
          <p:cNvPr id="41" name="Text 36"/>
          <p:cNvSpPr txBox="1"/>
          <p:nvPr/>
        </p:nvSpPr>
        <p:spPr>
          <a:xfrm>
            <a:off x="5179162" y="5010912"/>
            <a:ext cx="18306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Visualization</a:t>
            </a:r>
            <a:endParaRPr lang="en-US" sz="980" dirty="0"/>
          </a:p>
        </p:txBody>
      </p:sp>
      <p:sp>
        <p:nvSpPr>
          <p:cNvPr id="42" name="Text 37"/>
          <p:cNvSpPr txBox="1"/>
          <p:nvPr/>
        </p:nvSpPr>
        <p:spPr>
          <a:xfrm>
            <a:off x="5215738" y="5431536"/>
            <a:ext cx="175747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overlay, confidence display, OpenCV</a:t>
            </a:r>
            <a:endParaRPr lang="en-US" sz="880" dirty="0"/>
          </a:p>
        </p:txBody>
      </p:sp>
      <p:sp>
        <p:nvSpPr>
          <p:cNvPr id="43" name="Shape 38"/>
          <p:cNvSpPr/>
          <p:nvPr/>
        </p:nvSpPr>
        <p:spPr>
          <a:xfrm>
            <a:off x="7357262" y="3639312"/>
            <a:ext cx="2013509" cy="2340864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8071409" y="3877056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861" y="4017508"/>
            <a:ext cx="304312" cy="304312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7466990" y="4572000"/>
            <a:ext cx="1794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Priyanshi Singh</a:t>
            </a:r>
            <a:endParaRPr lang="en-US" sz="1250" dirty="0"/>
          </a:p>
        </p:txBody>
      </p:sp>
      <p:sp>
        <p:nvSpPr>
          <p:cNvPr id="47" name="Text 41"/>
          <p:cNvSpPr txBox="1"/>
          <p:nvPr/>
        </p:nvSpPr>
        <p:spPr>
          <a:xfrm>
            <a:off x="7448702" y="5010912"/>
            <a:ext cx="18306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Presentation</a:t>
            </a:r>
            <a:endParaRPr lang="en-US" sz="980" dirty="0"/>
          </a:p>
        </p:txBody>
      </p:sp>
      <p:sp>
        <p:nvSpPr>
          <p:cNvPr id="48" name="Text 42"/>
          <p:cNvSpPr txBox="1"/>
          <p:nvPr/>
        </p:nvSpPr>
        <p:spPr>
          <a:xfrm>
            <a:off x="7485278" y="5431536"/>
            <a:ext cx="175747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template, dashboard UI, pitch deck</a:t>
            </a:r>
            <a:endParaRPr lang="en-US" sz="880" dirty="0"/>
          </a:p>
        </p:txBody>
      </p:sp>
      <p:sp>
        <p:nvSpPr>
          <p:cNvPr id="49" name="Shape 43"/>
          <p:cNvSpPr/>
          <p:nvPr/>
        </p:nvSpPr>
        <p:spPr>
          <a:xfrm>
            <a:off x="9626803" y="3639312"/>
            <a:ext cx="2013509" cy="2340864"/>
          </a:xfrm>
          <a:prstGeom prst="roundRect">
            <a:avLst>
              <a:gd name="adj" fmla="val 45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140">
                <a:alpha val="16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10340950" y="3877056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0C2140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1401" y="4017508"/>
            <a:ext cx="304312" cy="304312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9736531" y="4572000"/>
            <a:ext cx="1794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5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Khan</a:t>
            </a:r>
            <a:endParaRPr lang="en-US" sz="1250" dirty="0"/>
          </a:p>
        </p:txBody>
      </p:sp>
      <p:sp>
        <p:nvSpPr>
          <p:cNvPr id="53" name="Text 46"/>
          <p:cNvSpPr txBox="1"/>
          <p:nvPr/>
        </p:nvSpPr>
        <p:spPr>
          <a:xfrm>
            <a:off x="9718243" y="5010912"/>
            <a:ext cx="18306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0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Documentation</a:t>
            </a:r>
            <a:endParaRPr lang="en-US" sz="980" dirty="0"/>
          </a:p>
        </p:txBody>
      </p:sp>
      <p:sp>
        <p:nvSpPr>
          <p:cNvPr id="54" name="Text 47"/>
          <p:cNvSpPr txBox="1"/>
          <p:nvPr/>
        </p:nvSpPr>
        <p:spPr>
          <a:xfrm>
            <a:off x="9754819" y="5431536"/>
            <a:ext cx="175747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video, README, test images, submission</a:t>
            </a:r>
            <a:endParaRPr lang="en-US" sz="880" dirty="0"/>
          </a:p>
        </p:txBody>
      </p:sp>
      <p:sp>
        <p:nvSpPr>
          <p:cNvPr id="55" name="Text 48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DrishtiAI  ·  Explainable DR Screening</a:t>
            </a:r>
            <a:endParaRPr lang="en-US" sz="950" dirty="0"/>
          </a:p>
        </p:txBody>
      </p:sp>
      <p:sp>
        <p:nvSpPr>
          <p:cNvPr id="56" name="Text 49"/>
          <p:cNvSpPr txBox="1"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863840" y="1828800"/>
            <a:ext cx="6035040" cy="6035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DEMO</a:t>
            </a:r>
            <a:endParaRPr lang="en-US" sz="12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Explainable Screening Accessible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92" y="1603492"/>
            <a:ext cx="304312" cy="3043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53312" y="14904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reach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353312" y="1783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that travels to the village, on a phone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2148840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92" y="2289292"/>
            <a:ext cx="304312" cy="3043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53312" y="21762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53312" y="2468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reason with every result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48640" y="2834640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92" y="2975092"/>
            <a:ext cx="304312" cy="30431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53312" y="2862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353312" y="3154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Google Cloud free-tier services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48640" y="3520440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92" y="3660892"/>
            <a:ext cx="304312" cy="30431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53312" y="3547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ASHA-first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353312" y="3840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workers with no eye-care training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48640" y="4206240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092" y="4346692"/>
            <a:ext cx="304312" cy="3043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53312" y="4233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referral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1353312" y="4526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and PDFs that guide next steps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51755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DEMO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548640" y="5541264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365F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548640" y="55412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2322576" y="5824728"/>
            <a:ext cx="310896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29" name="Shape 21"/>
          <p:cNvSpPr/>
          <p:nvPr/>
        </p:nvSpPr>
        <p:spPr>
          <a:xfrm>
            <a:off x="2670048" y="5541264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365F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2670048" y="55412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4443984" y="5824728"/>
            <a:ext cx="310896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32" name="Shape 24"/>
          <p:cNvSpPr/>
          <p:nvPr/>
        </p:nvSpPr>
        <p:spPr>
          <a:xfrm>
            <a:off x="4791456" y="5541264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365F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791456" y="55412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565392" y="5824728"/>
            <a:ext cx="310896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6912864" y="5541264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365F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912864" y="55412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8686800" y="5824728"/>
            <a:ext cx="310896" cy="0"/>
          </a:xfrm>
          <a:prstGeom prst="line">
            <a:avLst/>
          </a:prstGeom>
          <a:noFill/>
          <a:ln w="28575">
            <a:solidFill>
              <a:srgbClr val="17BECB"/>
            </a:solidFill>
            <a:prstDash val="solid"/>
            <a:headEnd type="none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9034272" y="5541264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7BECB"/>
          </a:solidFill>
          <a:ln w="12700">
            <a:solidFill>
              <a:srgbClr val="1C4B7C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9034272" y="55412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8686800" y="1517904"/>
            <a:ext cx="2953512" cy="3145536"/>
          </a:xfrm>
          <a:prstGeom prst="roundRect">
            <a:avLst>
              <a:gd name="adj" fmla="val 3096"/>
            </a:avLst>
          </a:prstGeom>
          <a:solidFill>
            <a:srgbClr val="12365F"/>
          </a:solidFill>
          <a:ln/>
        </p:spPr>
      </p:sp>
      <p:sp>
        <p:nvSpPr>
          <p:cNvPr id="41" name="Shape 33"/>
          <p:cNvSpPr/>
          <p:nvPr/>
        </p:nvSpPr>
        <p:spPr>
          <a:xfrm>
            <a:off x="8686800" y="1517904"/>
            <a:ext cx="2953512" cy="3145536"/>
          </a:xfrm>
          <a:prstGeom prst="roundRect">
            <a:avLst>
              <a:gd name="adj" fmla="val 3715"/>
            </a:avLst>
          </a:prstGeom>
          <a:ln w="15875">
            <a:solidFill>
              <a:srgbClr val="17BECB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9852660" y="1773936"/>
            <a:ext cx="621792" cy="621792"/>
          </a:xfrm>
          <a:prstGeom prst="roundRect">
            <a:avLst>
              <a:gd name="adj" fmla="val 28000"/>
            </a:avLst>
          </a:prstGeom>
          <a:solidFill>
            <a:srgbClr val="17BECB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890" y="1923166"/>
            <a:ext cx="323332" cy="32333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8906256" y="261518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Early, explainable DR screening — on any smartphone, understandable by any health worker.</a:t>
            </a:r>
            <a:endParaRPr lang="en-US" sz="1550" dirty="0"/>
          </a:p>
        </p:txBody>
      </p:sp>
      <p:sp>
        <p:nvSpPr>
          <p:cNvPr id="45" name="Text 36"/>
          <p:cNvSpPr txBox="1"/>
          <p:nvPr/>
        </p:nvSpPr>
        <p:spPr>
          <a:xfrm>
            <a:off x="8686800" y="4169664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NexGen  ·  SSTC Bhilai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DrishtiAI  ·  Explainable DR Screening</a:t>
            </a:r>
            <a:endParaRPr lang="en-US" sz="950" dirty="0"/>
          </a:p>
        </p:txBody>
      </p:sp>
      <p:sp>
        <p:nvSpPr>
          <p:cNvPr id="47" name="Text 38"/>
          <p:cNvSpPr txBox="1"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SSTC Bhilai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DrishtiAI — Explainable DR Screening</dc:title>
  <dc:subject>PptxGenJS Presentation</dc:subject>
  <dc:creator>Team NexGen</dc:creator>
  <cp:lastModifiedBy>Team NexGen</cp:lastModifiedBy>
  <cp:revision>1</cp:revision>
  <dcterms:created xsi:type="dcterms:W3CDTF">2026-09-23T16:11:10Z</dcterms:created>
  <dcterms:modified xsi:type="dcterms:W3CDTF">2026-09-23T16:11:10Z</dcterms:modified>
</cp:coreProperties>
</file>